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 (ms)</c:v>
                </c:pt>
              </c:strCache>
            </c:strRef>
          </c:tx>
          <c:spPr>
            <a:solidFill>
              <a:srgbClr val="00C2A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Face Detect</c:v>
                </c:pt>
                <c:pt idx="1">
                  <c:v>Alignment</c:v>
                </c:pt>
                <c:pt idx="2">
                  <c:v>Embedding</c:v>
                </c:pt>
                <c:pt idx="3">
                  <c:v>Liveness</c:v>
                </c:pt>
                <c:pt idx="4">
                  <c:v>Matching</c:v>
                </c:pt>
                <c:pt idx="5">
                  <c:v>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</c:v>
                </c:pt>
                <c:pt idx="1">
                  <c:v>45</c:v>
                </c:pt>
                <c:pt idx="2">
                  <c:v>280</c:v>
                </c:pt>
                <c:pt idx="3">
                  <c:v>180</c:v>
                </c:pt>
                <c:pt idx="4">
                  <c:v>95</c:v>
                </c:pt>
                <c:pt idx="5">
                  <c:v>685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51-4BA7-B54C-431D96A7A8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0"/>
        </c:scaling>
        <c:delete val="0"/>
        <c:axPos val="l"/>
        <c:majorGridlines>
          <c:spPr>
            <a:ln w="6350" cap="flat">
              <a:solidFill>
                <a:srgbClr val="2436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E4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061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i.studio/apps/32ccee8f-1b89-4104-8a54-95c3866e66cc?fullscreenApplet=true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57200"/>
            <a:ext cx="2560320" cy="20116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HACKATHON 7.0  |  DATALAKE 3.0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86868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Facial Recognition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Liveness Detection System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228600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biometric authentication for field personnel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zero-network remote locations.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2E47"/>
          </a:solidFill>
          <a:ln w="12700">
            <a:solidFill>
              <a:srgbClr val="1A2E47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640080"/>
            <a:ext cx="1554480" cy="1554480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5146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59168" y="2468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306324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59168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Detection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361188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59168" y="3566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Encrypted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416052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059168" y="4114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Sync &amp; Purge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0" y="4754880"/>
            <a:ext cx="6583680" cy="388620"/>
          </a:xfrm>
          <a:prstGeom prst="rect">
            <a:avLst/>
          </a:prstGeom>
          <a:solidFill>
            <a:srgbClr val="1A2E47"/>
          </a:solidFill>
          <a:ln w="12700">
            <a:solidFill>
              <a:srgbClr val="1A2E47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411480" y="477316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 India  |  National Highways Authority  | 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challenges in remote field operations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" cy="3657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25880"/>
            <a:ext cx="4023360" cy="1508760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402336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7552" y="1463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Connectivity Zones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personnel operate in remote areas with no mobile network. Existing systems fail completely without internet access.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1325880"/>
            <a:ext cx="4023360" cy="1508760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1325880"/>
            <a:ext cx="402336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50876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85232" y="1463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Fraud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846320" y="18745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attendance via photographs or shared credentials leads to inaccurate deployment records and fraudulent claims.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65760" y="3017520"/>
            <a:ext cx="4023360" cy="1508760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65760" y="3017520"/>
            <a:ext cx="402336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20040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7552" y="3154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Constraints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48640" y="35661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devices (3 GB RAM, no GPU) must run AI inference within 1 second without overheating or performance degradation.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663440" y="3017520"/>
            <a:ext cx="4023360" cy="1508760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663440" y="3017520"/>
            <a:ext cx="402336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20040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85232" y="3154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Synchronisation Gap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846320" y="35661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captured offline have no reliable mechanism to sync with central servers once connectivity is restored.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FaceAuth Field — a fully offline biometric authentication system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" cy="3657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encrypted, on-device system that authenticates field personnel via facial recognition and active liveness detection, operating entirely without internet connectivity and syncing to AWS when network is restored.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2606040" cy="1298448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965960"/>
            <a:ext cx="2606040" cy="4572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16712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21305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05840" y="24414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 accuracy, &lt;1 sec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0" y="1965960"/>
            <a:ext cx="2606040" cy="1298448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0" y="1965960"/>
            <a:ext cx="2606040" cy="457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2167128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40480" y="21305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Anti-Spoofing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840480" y="24414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Blink, smile, head-turn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35040" y="1965960"/>
            <a:ext cx="2606040" cy="1298448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35040" y="1965960"/>
            <a:ext cx="2606040" cy="457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2167128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75120" y="21305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675120" y="24414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encrypted at rest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65760" y="3429000"/>
            <a:ext cx="2606040" cy="1298448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65760" y="3429000"/>
            <a:ext cx="2606040" cy="4572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630168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05840" y="35935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Sync &amp; Purge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005840" y="39044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sync on connectivity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200400" y="3429000"/>
            <a:ext cx="2606040" cy="1298448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200400" y="3429000"/>
            <a:ext cx="2606040" cy="457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3630168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840480" y="35935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Ready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3840480" y="39044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8+ / iOS 12+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035040" y="3429000"/>
            <a:ext cx="2606040" cy="1298448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035040" y="3429000"/>
            <a:ext cx="2606040" cy="457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9632" y="3630168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675120" y="35935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Storage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6675120" y="39044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/ SQLite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inference pipeline with offline-first data layer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" cy="3657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8046720" cy="658368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73152" cy="65836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3350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160934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 |  Jetpack Compose  |  CameraX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34840" y="1938528"/>
            <a:ext cx="274320" cy="20116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157984"/>
            <a:ext cx="8046720" cy="658368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157984"/>
            <a:ext cx="73152" cy="65836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2128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Inference Engine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" y="248716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INT8  |  MobileFaceNet  |  MediaPipe Mesh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34840" y="2816352"/>
            <a:ext cx="274320" cy="20116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035808"/>
            <a:ext cx="8046720" cy="658368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035808"/>
            <a:ext cx="73152" cy="658368"/>
          </a:xfrm>
          <a:prstGeom prst="rect">
            <a:avLst/>
          </a:prstGeom>
          <a:solidFill>
            <a:srgbClr val="243652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0906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Data Layer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" y="336499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Encrypted SQLite  |  Attendance Queue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34840" y="3694176"/>
            <a:ext cx="274320" cy="201168"/>
          </a:xfrm>
          <a:prstGeom prst="rect">
            <a:avLst/>
          </a:prstGeom>
          <a:solidFill>
            <a:srgbClr val="243652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13632"/>
            <a:ext cx="8046720" cy="658368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913632"/>
            <a:ext cx="73152" cy="65836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9684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Module (Online)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" y="424281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(embeddings)  |  DynamoDB (records)  |  Purge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downward. Sync layer activates only when network is available. All inference runs entirely on-device.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Six-stage biometric verification pipeline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" cy="3657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325880"/>
            <a:ext cx="2697480" cy="1417320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502920" cy="1417320"/>
          </a:xfrm>
          <a:prstGeom prst="rect">
            <a:avLst/>
          </a:prstGeom>
          <a:solidFill>
            <a:srgbClr val="243652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25880"/>
            <a:ext cx="502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5087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Activates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847088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CameraX opens, face oval guide displayed with real-time position feedback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325880"/>
            <a:ext cx="2697480" cy="1417320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325880"/>
            <a:ext cx="502920" cy="1417320"/>
          </a:xfrm>
          <a:prstGeom prst="rect">
            <a:avLst/>
          </a:prstGeom>
          <a:solidFill>
            <a:srgbClr val="243652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325880"/>
            <a:ext cx="502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94760" y="15087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Liveness: Blink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94760" y="1847088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(Eye Aspect Ratio) drops below 0.25 threshold — blink confirmed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1325880"/>
            <a:ext cx="2697480" cy="1417320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25880"/>
            <a:ext cx="502920" cy="1417320"/>
          </a:xfrm>
          <a:prstGeom prst="rect">
            <a:avLst/>
          </a:prstGeom>
          <a:solidFill>
            <a:srgbClr val="243652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325880"/>
            <a:ext cx="502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75120" y="15087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Liveness: Smile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1847088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(Mouth Aspect Ratio) exceeds 0.60 threshold — smile confirmed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953512"/>
            <a:ext cx="2697480" cy="1417320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953512"/>
            <a:ext cx="502920" cy="1417320"/>
          </a:xfrm>
          <a:prstGeom prst="rect">
            <a:avLst/>
          </a:prstGeom>
          <a:solidFill>
            <a:srgbClr val="243652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953512"/>
            <a:ext cx="502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4400" y="31363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Liveness: Head Turn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4747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Y-angle exceeds 15° — head turn confirmed. Spoofing rejected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2953512"/>
            <a:ext cx="2697480" cy="1417320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2953512"/>
            <a:ext cx="502920" cy="1417320"/>
          </a:xfrm>
          <a:prstGeom prst="rect">
            <a:avLst/>
          </a:prstGeom>
          <a:solidFill>
            <a:srgbClr val="243652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2953512"/>
            <a:ext cx="502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794760" y="31363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Match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94760" y="34747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generated → cosine similarity vs enrolled database → threshold 0.80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80760" y="2953512"/>
            <a:ext cx="2697480" cy="1417320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2953512"/>
            <a:ext cx="502920" cy="1417320"/>
          </a:xfrm>
          <a:prstGeom prst="rect">
            <a:avLst/>
          </a:prstGeom>
          <a:solidFill>
            <a:srgbClr val="243652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0760" y="2953512"/>
            <a:ext cx="502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675120" y="31363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Logged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75120" y="34747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encrypted and written to local queue. Synced to AWS when online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Detection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challenge-response anti-spoofing system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" cy="3657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25880"/>
            <a:ext cx="5120640" cy="960120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5120640" cy="4572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3560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 DETECTION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76479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= (‖p2−p6‖ + ‖p3−p5‖) / (2 × ‖p1−p4‖)  &lt;  0.25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441448"/>
            <a:ext cx="5120640" cy="960120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441448"/>
            <a:ext cx="5120640" cy="457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5117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 DETECTION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= ‖p62−p68‖ / ‖p60−p64‖  &gt;  0.60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557016"/>
            <a:ext cx="5120640" cy="960120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557016"/>
            <a:ext cx="5120640" cy="457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66674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TURN DETECTION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99592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Y-angle from face mesh pose  &gt;  15°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760720" y="1325880"/>
            <a:ext cx="2971800" cy="3246120"/>
          </a:xfrm>
          <a:prstGeom prst="rect">
            <a:avLst/>
          </a:prstGeom>
          <a:solidFill>
            <a:srgbClr val="243652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1463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Mitigated</a:t>
            </a:r>
            <a:endParaRPr lang="en-US" sz="12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920240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236208" y="18928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photograph attack</a:t>
            </a:r>
            <a:endParaRPr lang="en-US" sz="10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414016"/>
            <a:ext cx="201168" cy="20116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236208" y="238658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replay attack</a:t>
            </a:r>
            <a:endParaRPr lang="en-US" sz="10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907792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36208" y="2880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mask attack</a:t>
            </a:r>
            <a:endParaRPr lang="en-US" sz="10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401568"/>
            <a:ext cx="201168" cy="20116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236208" y="337413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twin spoof</a:t>
            </a:r>
            <a:endParaRPr lang="en-US" sz="10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895344"/>
            <a:ext cx="201168" cy="20116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236208" y="38679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Pre-recorded video attack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365760" y="46634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 Mesh — 468 landmarks — model size: &lt; 5 MB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Snapdragon 680 / MediaTek Helio G85 class devices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" cy="3657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98448"/>
            <a:ext cx="2011680" cy="1005840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98448"/>
            <a:ext cx="201168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800ms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verification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298448"/>
            <a:ext cx="2011680" cy="1005840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298448"/>
            <a:ext cx="2011680" cy="54864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417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95%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68880" y="1874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accuracy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1298448"/>
            <a:ext cx="2011680" cy="1005840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298448"/>
            <a:ext cx="2011680" cy="5486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417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17720" y="1874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model footprint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66560" y="1298448"/>
            <a:ext cx="2011680" cy="1005840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0" y="1298448"/>
            <a:ext cx="201168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417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GB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66560" y="1874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device RAM</a:t>
            </a:r>
            <a:endParaRPr lang="en-US" sz="9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320040" y="2487168"/>
          <a:ext cx="85039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open-source — zero additional licensing cost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" cy="3657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98448"/>
            <a:ext cx="2103120" cy="2926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9844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1298448"/>
            <a:ext cx="4754880" cy="2926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33472" y="129844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06640" y="1298448"/>
            <a:ext cx="1645920" cy="2926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79792" y="129844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627632"/>
            <a:ext cx="8686800" cy="347472"/>
          </a:xfrm>
          <a:prstGeom prst="rect">
            <a:avLst/>
          </a:prstGeom>
          <a:solidFill>
            <a:srgbClr val="1A2E47"/>
          </a:solidFill>
          <a:ln w="12700">
            <a:solidFill>
              <a:srgbClr val="1A2E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27632"/>
            <a:ext cx="50292" cy="34747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6276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162763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/ Next.js 14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06640" y="162763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011680"/>
            <a:ext cx="8686800" cy="347472"/>
          </a:xfrm>
          <a:prstGeom prst="rect">
            <a:avLst/>
          </a:prstGeom>
          <a:solidFill>
            <a:srgbClr val="243652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011680"/>
            <a:ext cx="50292" cy="34747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0116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Runtime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0" y="201168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 (INT8 quantized)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06640" y="20116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395728"/>
            <a:ext cx="8686800" cy="347472"/>
          </a:xfrm>
          <a:prstGeom prst="rect">
            <a:avLst/>
          </a:prstGeom>
          <a:solidFill>
            <a:srgbClr val="1A2E47"/>
          </a:solidFill>
          <a:ln w="12700">
            <a:solidFill>
              <a:srgbClr val="1A2E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395728"/>
            <a:ext cx="50292" cy="34747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39572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60320" y="239572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YuNet / BlazeFace (&lt; 1 MB)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06640" y="239572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779776"/>
            <a:ext cx="8686800" cy="347472"/>
          </a:xfrm>
          <a:prstGeom prst="rect">
            <a:avLst/>
          </a:prstGeom>
          <a:solidFill>
            <a:srgbClr val="243652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79776"/>
            <a:ext cx="50292" cy="34747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277977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Embedding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60320" y="277977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MobileFaceNet INT8 (&lt; 5 MB)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277977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163824"/>
            <a:ext cx="8686800" cy="347472"/>
          </a:xfrm>
          <a:prstGeom prst="rect">
            <a:avLst/>
          </a:prstGeom>
          <a:solidFill>
            <a:srgbClr val="1A2E47"/>
          </a:solidFill>
          <a:ln w="12700">
            <a:solidFill>
              <a:srgbClr val="1A2E4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163824"/>
            <a:ext cx="50292" cy="34747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316382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560320" y="316382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 Mesh (&lt; 5 MB)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06640" y="316382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547872"/>
            <a:ext cx="8686800" cy="347472"/>
          </a:xfrm>
          <a:prstGeom prst="rect">
            <a:avLst/>
          </a:prstGeom>
          <a:solidFill>
            <a:srgbClr val="243652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3547872"/>
            <a:ext cx="50292" cy="34747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" y="354787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560320" y="354787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CameraX / react-native-vision-camera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406640" y="354787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3931920"/>
            <a:ext cx="8686800" cy="347472"/>
          </a:xfrm>
          <a:prstGeom prst="rect">
            <a:avLst/>
          </a:prstGeom>
          <a:solidFill>
            <a:srgbClr val="1A2E47"/>
          </a:solidFill>
          <a:ln w="12700">
            <a:solidFill>
              <a:srgbClr val="1A2E4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3931920"/>
            <a:ext cx="50292" cy="34747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" y="39319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560320" y="393192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(Web Crypto / SQLCipher)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406640" y="39319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4315968"/>
            <a:ext cx="8686800" cy="347472"/>
          </a:xfrm>
          <a:prstGeom prst="rect">
            <a:avLst/>
          </a:prstGeom>
          <a:solidFill>
            <a:srgbClr val="243652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4315968"/>
            <a:ext cx="50292" cy="34747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8912" y="431596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560320" y="431596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SDK v3 — S3 + DynamoDB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406640" y="431596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Sync &amp; Purge Mechanism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data pipeline from field device to AWS cloud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" cy="3657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98448"/>
            <a:ext cx="8412480" cy="621792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502920" cy="62179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98448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13533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Captured Offline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87552" y="162763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record written to encrypted IndexedDB / SQLite queue on device</a:t>
            </a:r>
            <a:endParaRPr lang="en-US" sz="9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481328"/>
            <a:ext cx="256032" cy="2560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" y="2020824"/>
            <a:ext cx="8412480" cy="621792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" y="2020824"/>
            <a:ext cx="502920" cy="62179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2020824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87552" y="20756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Detected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87552" y="2350008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ConnectivityManager / NetInfo detects restoration of mobile or Wi-Fi network</a:t>
            </a:r>
            <a:endParaRPr lang="en-US" sz="9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2203704"/>
            <a:ext cx="256032" cy="25603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65760" y="2743200"/>
            <a:ext cx="8412480" cy="621792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65760" y="2743200"/>
            <a:ext cx="502920" cy="62179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5760" y="2743200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987552" y="27980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AWS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987552" y="3072384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embeddings → S3. Attendance records → DynamoDB. Per-record progress shown</a:t>
            </a:r>
            <a:endParaRPr lang="en-US" sz="95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2926080"/>
            <a:ext cx="256032" cy="25603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365760" y="3465576"/>
            <a:ext cx="8412480" cy="621792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65760" y="3465576"/>
            <a:ext cx="502920" cy="62179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65760" y="3465576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987552" y="3520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Confirmation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987552" y="37947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returns 200 OK per record. Client marks record as synced in local DB</a:t>
            </a:r>
            <a:endParaRPr lang="en-US" sz="95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3648456"/>
            <a:ext cx="256032" cy="256032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365760" y="4187952"/>
            <a:ext cx="8412480" cy="621792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65760" y="4187952"/>
            <a:ext cx="502920" cy="6217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65760" y="4187952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987552" y="42428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Auto-Purge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987552" y="4517136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records deleted from device after 3-second countdown. Storage freed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365760" y="498348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resolution: timestamp-based deduplication prevents duplicate records during concurrent sync attempts.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Criteria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submission addresses each scoring parameter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" cy="3657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98448"/>
            <a:ext cx="4069080" cy="1627632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98448"/>
            <a:ext cx="406908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11880" y="1463040"/>
            <a:ext cx="640080" cy="38404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4630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144475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920240"/>
            <a:ext cx="164592" cy="16459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22376" y="1883664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multimodal vision + TFLite INT8 quantization</a:t>
            </a:r>
            <a:endParaRPr lang="en-US" sz="9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194560"/>
            <a:ext cx="164592" cy="1645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" y="2157984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MobileFaceNet &lt; 5 MB with &gt;95% accuracy</a:t>
            </a:r>
            <a:endParaRPr lang="en-US" sz="9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468880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2376" y="2432304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liveness — no GPU required</a:t>
            </a:r>
            <a:endParaRPr lang="en-US" sz="9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743200"/>
            <a:ext cx="164592" cy="16459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22376" y="2706624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adaptive lighting normalisation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4663440" y="1298448"/>
            <a:ext cx="4069080" cy="1627632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4663440" y="1298448"/>
            <a:ext cx="4069080" cy="5486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955280" y="1463040"/>
            <a:ext cx="640080" cy="38404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955280" y="14630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pts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828032" y="144475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3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920240"/>
            <a:ext cx="164592" cy="16459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065776" y="1883664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working prototype — live at AI Studio URL</a:t>
            </a:r>
            <a:endParaRPr lang="en-US" sz="95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194560"/>
            <a:ext cx="164592" cy="16459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065776" y="2157984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Sub-800 ms end-to-end on mid-range hardware</a:t>
            </a:r>
            <a:endParaRPr lang="en-US" sz="95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468880"/>
            <a:ext cx="164592" cy="16459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065776" y="2432304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bridge (Android Kotlin + iOS Swift)</a:t>
            </a:r>
            <a:endParaRPr lang="en-US" sz="95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743200"/>
            <a:ext cx="164592" cy="164592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065776" y="2706624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minSdk 26, compileSdk 35 — production-ready</a:t>
            </a:r>
            <a:endParaRPr lang="en-US" sz="950" dirty="0"/>
          </a:p>
        </p:txBody>
      </p:sp>
      <p:sp>
        <p:nvSpPr>
          <p:cNvPr id="31" name="Shape 21"/>
          <p:cNvSpPr/>
          <p:nvPr/>
        </p:nvSpPr>
        <p:spPr>
          <a:xfrm>
            <a:off x="320040" y="3081528"/>
            <a:ext cx="4069080" cy="1627632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32" name="Shape 22"/>
          <p:cNvSpPr/>
          <p:nvPr/>
        </p:nvSpPr>
        <p:spPr>
          <a:xfrm>
            <a:off x="320040" y="3081528"/>
            <a:ext cx="4069080" cy="54864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3611880" y="3246120"/>
            <a:ext cx="640080" cy="38404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3611880" y="324612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1100" dirty="0"/>
          </a:p>
        </p:txBody>
      </p:sp>
      <p:sp>
        <p:nvSpPr>
          <p:cNvPr id="35" name="Text 25"/>
          <p:cNvSpPr/>
          <p:nvPr/>
        </p:nvSpPr>
        <p:spPr>
          <a:xfrm>
            <a:off x="484632" y="322783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0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703320"/>
            <a:ext cx="164592" cy="164592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22376" y="3666744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+ DynamoDB sync with conflict resolution</a:t>
            </a:r>
            <a:endParaRPr lang="en-US" sz="950" dirty="0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977640"/>
            <a:ext cx="164592" cy="164592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722376" y="3941064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Auto-purge after server confirmation</a:t>
            </a:r>
            <a:endParaRPr lang="en-US" sz="950" dirty="0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4251960"/>
            <a:ext cx="164592" cy="164592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722376" y="4215384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 — port to React Native directly</a:t>
            </a:r>
            <a:endParaRPr lang="en-US" sz="950" dirty="0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4526280"/>
            <a:ext cx="164592" cy="164592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722376" y="4489704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diverse Indian demographics</a:t>
            </a:r>
            <a:endParaRPr lang="en-US" sz="950" dirty="0"/>
          </a:p>
        </p:txBody>
      </p:sp>
      <p:sp>
        <p:nvSpPr>
          <p:cNvPr id="44" name="Shape 30"/>
          <p:cNvSpPr/>
          <p:nvPr/>
        </p:nvSpPr>
        <p:spPr>
          <a:xfrm>
            <a:off x="4663440" y="3081528"/>
            <a:ext cx="4069080" cy="1627632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45" name="Shape 31"/>
          <p:cNvSpPr/>
          <p:nvPr/>
        </p:nvSpPr>
        <p:spPr>
          <a:xfrm>
            <a:off x="4663440" y="3081528"/>
            <a:ext cx="406908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6" name="Shape 32"/>
          <p:cNvSpPr/>
          <p:nvPr/>
        </p:nvSpPr>
        <p:spPr>
          <a:xfrm>
            <a:off x="7955280" y="3246120"/>
            <a:ext cx="640080" cy="38404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7" name="Text 33"/>
          <p:cNvSpPr/>
          <p:nvPr/>
        </p:nvSpPr>
        <p:spPr>
          <a:xfrm>
            <a:off x="7955280" y="324612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1100" dirty="0"/>
          </a:p>
        </p:txBody>
      </p:sp>
      <p:sp>
        <p:nvSpPr>
          <p:cNvPr id="48" name="Text 34"/>
          <p:cNvSpPr/>
          <p:nvPr/>
        </p:nvSpPr>
        <p:spPr>
          <a:xfrm>
            <a:off x="4828032" y="322783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300" dirty="0"/>
          </a:p>
        </p:txBody>
      </p:sp>
      <p:pic>
        <p:nvPicPr>
          <p:cNvPr id="49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3703320"/>
            <a:ext cx="164592" cy="164592"/>
          </a:xfrm>
          <a:prstGeom prst="rect">
            <a:avLst/>
          </a:prstGeom>
        </p:spPr>
      </p:pic>
      <p:sp>
        <p:nvSpPr>
          <p:cNvPr id="50" name="Text 35"/>
          <p:cNvSpPr/>
          <p:nvPr/>
        </p:nvSpPr>
        <p:spPr>
          <a:xfrm>
            <a:off x="5065776" y="3666744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README with setup, architecture, API docs</a:t>
            </a:r>
            <a:endParaRPr lang="en-US" sz="950" dirty="0"/>
          </a:p>
        </p:txBody>
      </p:sp>
      <p:pic>
        <p:nvPicPr>
          <p:cNvPr id="51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3977640"/>
            <a:ext cx="164592" cy="164592"/>
          </a:xfrm>
          <a:prstGeom prst="rect">
            <a:avLst/>
          </a:prstGeom>
        </p:spPr>
      </p:pic>
      <p:sp>
        <p:nvSpPr>
          <p:cNvPr id="52" name="Text 36"/>
          <p:cNvSpPr/>
          <p:nvPr/>
        </p:nvSpPr>
        <p:spPr>
          <a:xfrm>
            <a:off x="5065776" y="3941064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JSDoc on all functions</a:t>
            </a:r>
            <a:endParaRPr lang="en-US" sz="950" dirty="0"/>
          </a:p>
        </p:txBody>
      </p:sp>
      <p:pic>
        <p:nvPicPr>
          <p:cNvPr id="53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4251960"/>
            <a:ext cx="164592" cy="164592"/>
          </a:xfrm>
          <a:prstGeom prst="rect">
            <a:avLst/>
          </a:prstGeom>
        </p:spPr>
      </p:pic>
      <p:sp>
        <p:nvSpPr>
          <p:cNvPr id="54" name="Text 37"/>
          <p:cNvSpPr/>
          <p:nvPr/>
        </p:nvSpPr>
        <p:spPr>
          <a:xfrm>
            <a:off x="5065776" y="4215384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 and flow documentation</a:t>
            </a:r>
            <a:endParaRPr lang="en-US" sz="950" dirty="0"/>
          </a:p>
        </p:txBody>
      </p:sp>
      <p:pic>
        <p:nvPicPr>
          <p:cNvPr id="55" name="Image 1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4526280"/>
            <a:ext cx="164592" cy="164592"/>
          </a:xfrm>
          <a:prstGeom prst="rect">
            <a:avLst/>
          </a:prstGeom>
        </p:spPr>
      </p:pic>
      <p:sp>
        <p:nvSpPr>
          <p:cNvPr id="56" name="Text 38"/>
          <p:cNvSpPr/>
          <p:nvPr/>
        </p:nvSpPr>
        <p:spPr>
          <a:xfrm>
            <a:off x="5065776" y="4489704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stack — Apache 2.0 / MIT only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— Domain / Data / Presentation layers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" cy="3657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98448"/>
            <a:ext cx="2788920" cy="3291840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98448"/>
            <a:ext cx="278892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14447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8056" y="192024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Enroll / Authenticate screens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48056" y="2523744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CameraView + FaceOvalOverlay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8056" y="3127248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ChallengeCard state machine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8056" y="3730752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SyncBanner + ActivityList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1298448"/>
            <a:ext cx="2788920" cy="3291840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298448"/>
            <a:ext cx="2788920" cy="5486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74136" y="14447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Inference Engine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74136" y="192024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FaceDetector (YuNet TFLite)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74136" y="2523744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FaceEmbedder (MobileFaceNet INT8)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74136" y="3127248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LivenessAnalyzer (EAR / MAR / Pose)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74136" y="3730752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FaceMatcher (cosine similarity)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72200" y="1298448"/>
            <a:ext cx="2788920" cy="3291840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298448"/>
            <a:ext cx="2788920" cy="54864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0216" y="14447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0216" y="192024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local database (SQLite/IDB)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00216" y="2523744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SyncManager (network + AWS upload)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300216" y="3127248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AttendanceQueue + purge logic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00216" y="3730752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DataStore preferences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0040" y="46817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/api/analyze-face — Base64 image → quality score + embedding    |    POST /api/verify-liveness — Challenge frame → pass/fail + confidence    |    POST /api/sync — Queue upload to AWS S3 + DynamoDB → purge confirmation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Evaluation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working prototype deployed. Source code available on GitHub.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1920240"/>
            <a:ext cx="6400800" cy="685800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920240"/>
            <a:ext cx="640080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2011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54480" y="228600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IN" sz="1000" b="0" i="0" u="sng" dirty="0">
                <a:solidFill>
                  <a:srgbClr val="4493F8"/>
                </a:solidFill>
                <a:effectLst/>
                <a:latin typeface="Mona Sans VF"/>
                <a:hlinkClick r:id="rId3"/>
              </a:rPr>
              <a:t>https://ai.studio/apps/32ccee8f-1b89-4104-8a54-95c3866e66cc?fullscreenApplet=true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371600" y="2788920"/>
            <a:ext cx="6400800" cy="685800"/>
          </a:xfrm>
          <a:prstGeom prst="rect">
            <a:avLst/>
          </a:prstGeom>
          <a:solidFill>
            <a:srgbClr val="1A2E47"/>
          </a:solidFill>
          <a:ln w="12700">
            <a:solidFill>
              <a:srgbClr val="2436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788920"/>
            <a:ext cx="6400800" cy="5486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28803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54480" y="315468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https://github.com/Yash151005/NHAI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" y="3749040"/>
            <a:ext cx="1828800" cy="292608"/>
          </a:xfrm>
          <a:prstGeom prst="rect">
            <a:avLst/>
          </a:prstGeom>
          <a:solidFill>
            <a:srgbClr val="243652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7490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 Licensed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06040" y="3749040"/>
            <a:ext cx="1828800" cy="292608"/>
          </a:xfrm>
          <a:prstGeom prst="rect">
            <a:avLst/>
          </a:prstGeom>
          <a:solidFill>
            <a:srgbClr val="243652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37490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Additional Cost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3749040"/>
            <a:ext cx="1828800" cy="292608"/>
          </a:xfrm>
          <a:prstGeom prst="rect">
            <a:avLst/>
          </a:prstGeom>
          <a:solidFill>
            <a:srgbClr val="243652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37490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Stack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29400" y="3749040"/>
            <a:ext cx="1828800" cy="292608"/>
          </a:xfrm>
          <a:prstGeom prst="rect">
            <a:avLst/>
          </a:prstGeom>
          <a:solidFill>
            <a:srgbClr val="243652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37490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7"/>
          </a:solidFill>
          <a:ln w="12700">
            <a:solidFill>
              <a:srgbClr val="1A2E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78231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7.0  |  Datalake 3.0 Integration  |  Government of India — NHAI  |  May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1057</Words>
  <Application>Microsoft Office PowerPoint</Application>
  <PresentationFormat>On-screen Show (16:9)</PresentationFormat>
  <Paragraphs>206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Mona Sans VF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Offline Facial Recognition and Liveness Detection — Hackathon 7.0</dc:title>
  <dc:subject>PptxGenJS Presentation</dc:subject>
  <dc:creator>Yash</dc:creator>
  <cp:lastModifiedBy>Yash Pakale</cp:lastModifiedBy>
  <cp:revision>2</cp:revision>
  <dcterms:created xsi:type="dcterms:W3CDTF">2026-05-29T08:08:26Z</dcterms:created>
  <dcterms:modified xsi:type="dcterms:W3CDTF">2026-05-29T08:11:38Z</dcterms:modified>
</cp:coreProperties>
</file>